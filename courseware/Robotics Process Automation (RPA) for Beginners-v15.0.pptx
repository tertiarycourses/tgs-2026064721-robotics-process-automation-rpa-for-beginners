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381" r:id="rId13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Suitability score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Invoice entry</c:v>
                </c:pt>
                <c:pt idx="1">
                  <c:v>Password reset</c:v>
                </c:pt>
                <c:pt idx="2">
                  <c:v>Claims triage</c:v>
                </c:pt>
                <c:pt idx="3">
                  <c:v>Contract review</c:v>
                </c:pt>
                <c:pt idx="4">
                  <c:v>Leadership coaching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86</c:v>
                </c:pt>
                <c:pt idx="2">
                  <c:v>68</c:v>
                </c:pt>
                <c:pt idx="3">
                  <c:v>42</c:v>
                </c:pt>
                <c:pt idx="4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FE6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Best-fit clarity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Linear task</c:v>
                </c:pt>
                <c:pt idx="1">
                  <c:v>Branching rules</c:v>
                </c:pt>
                <c:pt idx="2">
                  <c:v>Event-driven case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82</c:v>
                </c:pt>
                <c:pt idx="2">
                  <c:v>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FE6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 score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Stable ID</c:v>
                </c:pt>
                <c:pt idx="1">
                  <c:v>Name + anchor</c:v>
                </c:pt>
                <c:pt idx="2">
                  <c:v>CSS class</c:v>
                </c:pt>
                <c:pt idx="3">
                  <c:v>Dynamic index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88</c:v>
                </c:pt>
                <c:pt idx="2">
                  <c:v>61</c:v>
                </c:pt>
                <c:pt idx="3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FE6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found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Build</c:v>
                </c:pt>
                <c:pt idx="1">
                  <c:v>Unit test</c:v>
                </c:pt>
                <c:pt idx="2">
                  <c:v>User test</c:v>
                </c:pt>
                <c:pt idx="3">
                  <c:v>Production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11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>
          <c:spPr>
            <a:ln>
              <a:solidFill>
                <a:srgbClr val="DFE6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1F6FE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Success rate</c:v>
                </c:pt>
                <c:pt idx="1">
                  <c:v>SLA met</c:v>
                </c:pt>
                <c:pt idx="2">
                  <c:v>Data quality</c:v>
                </c:pt>
                <c:pt idx="3">
                  <c:v>Capacity used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88</c:v>
                </c:pt>
                <c:pt idx="2">
                  <c:v>97</c:v>
                </c:pt>
                <c:pt idx="3">
                  <c:v>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FE6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32964"/>
            <a:ext cx="6382512" cy="35920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1828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502920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508760"/>
            <a:ext cx="48463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4892040" cy="18288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Robotics Process Automation (RPA) for Beginners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2057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06240"/>
            <a:ext cx="4800600" cy="10789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Code: TGS-2026064721 ·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2-Day Hands-On Training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Version v15.0 · 23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669280"/>
            <a:ext cx="480060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UEN: 201200696W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5661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29718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161B26"/>
                </a:solidFill>
                <a:latin typeface="Arial"/>
              </a:rPr>
              <a:t>Build reliable UiPath automations that select the right work, express clear logic, recover from failure and remain manageable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Scan and submit morning attendance.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Scan and submit afternoon attendance.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73152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Complete assessment attendance and TRAQOM.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69080"/>
            <a:ext cx="73152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Requirement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At least 75% attendance is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Meet 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73152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Principal trainer and facilitator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69080"/>
            <a:ext cx="73152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Your name, role and organisation.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 process, scripting or automation exposure.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73152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repetitive task you would like to improve.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69080"/>
            <a:ext cx="73152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a useful outcome looks like for 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WORKING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Participate actively and ask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Keep devices silent during learning.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Respect confidentiality in examples.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Return punctually from breaks.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Use only mock data in labs.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Capture evidence before moving 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in to LMS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this course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slides and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lab repository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Retain your evidence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The Learner Guide and individual lab folders contain the detailed procedures.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Two-Day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RPA foundations, workflow design and data-driven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UI automation, resilience, deployment and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73152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Ten connected UiPath labs with mock business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69080"/>
            <a:ext cx="73152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13 written questions and five practical tasks.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BY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Determine appropriate RPA opportunities and best practices for attended and unattended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1020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81020"/>
            <a:ext cx="73152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809036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02227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Plan and construct UiPath workflows using sequences, flowcharts, state machines, variables, arguments and control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06392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06392"/>
            <a:ext cx="73152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734408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127599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Design and validate UI, web, data and Excel automation processes with reliable selectors and structured outputs.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31764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31764"/>
            <a:ext cx="73152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659780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052971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Test, debug, log and handle exceptions in RPA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57136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457136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585152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978343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Package, deploy, monitor and optimise UiPath processes using Assistant and Orchestrator.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SELF-LEARNING SYSTEMS · ICT-DIT-4028-1.1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TSC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Determine best practices for building autonomous software robots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Plan processes used to design and build software robots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Define technical requirements for software robots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7936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425952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819143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Construct fully functional software robots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3297936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8264" y="3297936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425952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819143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Validate the design of software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297936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297936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425952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819143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Introduce suitable practices in robot design and planning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40224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968240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361431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Gather feedback on robot performance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98264" y="4840224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98264" y="4840224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4968240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361431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Review coding, testing and design criteria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4840224"/>
            <a:ext cx="3410712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5008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4" y="4968240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5361431"/>
            <a:ext cx="2999232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Optimise robot performance during and after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KNOWLEDGE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TSC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Autonomy, agency, and attended versus unattended operation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Automating repetitive tasks and intelligent process 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Single-agent and multiple-agent robot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81020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681020"/>
            <a:ext cx="73152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809036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202227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Sequences, flowcharts, and state-machine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2681020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98264" y="2681020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809036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202227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User-interface automation and recording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2681020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2681020"/>
            <a:ext cx="73152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2809036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202227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System activities, user events, and loop selection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606392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606392"/>
            <a:ext cx="73152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3734408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127599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Recording and extracting structured data from websites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98264" y="3606392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98264" y="3606392"/>
            <a:ext cx="73152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3734408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127599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Testing, debugging, logging, and exception handling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3606392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5008" y="3606392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4" y="3734408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4127599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Multi-robot management and Orchestrator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531764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4531764"/>
            <a:ext cx="73152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4659780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5052971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Industry best practices for software robots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98264" y="4531764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98264" y="4531764"/>
            <a:ext cx="73152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659780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052971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Application and data integration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5008" y="4531764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5008" y="4531764"/>
            <a:ext cx="73152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4464" y="4659780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4" y="5052971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Packaging, embedding, deploying, and running robots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457136"/>
            <a:ext cx="3410712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5457136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" y="5585152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" y="5978343"/>
            <a:ext cx="2999232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Validation, verification, and resilient exception handling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Written Assessment (WA / SAQ) — 13 open-ended questions, 60 minutes, open book.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13 questions map one-to-one to K1–K13.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Answer in your own words using course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Practical Performance (PP) — 5 connected UiPath tasks, 90 minutes, open book.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Five connected tasks map to A1–A9.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Retain the requested UiPath and output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FINAL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and sign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Candidates must achieve at least 75% attendance and be assessed Competent (C).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PROCEDURE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Detailed procedures live outside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5661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29718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161B26"/>
                </a:solidFill>
                <a:latin typeface="Arial"/>
              </a:rPr>
              <a:t>Use the Learner Guide for complete procedures, troubleshooting and evidence criteria. Use each lab folder for its UiPath starter project, CSV and Excel mock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RPA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46120"/>
            <a:ext cx="16459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9669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Opportunity selection · attended and unattended automation · value · governance · intelligent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4360"/>
            <a:ext cx="160020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FE6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· A1/A6 · K1/K2/K3/K10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01 · Concept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RPA operates the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software robot performs rule-based actions through applications much as a user would.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Choose stable, repetitive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Volume, clear rules, structured data and low exception rates make strong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Attended supports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user starts or assists the automation at the desktop.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Unattended runs centrally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Orchestrator schedules and monitors work without a user at the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IPA expands the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OCR, document understanding and AI handle variability beyond simple deterministic rules.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Automation needs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Ownership, credentials, logging, exception paths and human review make robots sustainable.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LEGACY CONTENT · 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Benefits of RPA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a-benefits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83663"/>
            <a:ext cx="6126480" cy="29148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178308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783080"/>
            <a:ext cx="73152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5" y="185623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775" y="219456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Consistent execution reduces manual transposition and missed-step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29184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2918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336499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370332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Digital workers extend throughput without making people repeat low-value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80060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4800600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487375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521208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Logs create evidence for audit, support and continuous improvement.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How an RPA Robot Delivers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Receive a 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digital inputs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rules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Operate applications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the result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The robot is deterministic: clear inputs, rules and exception paths matter more than human-like appearance.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Attended vs Unattended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ATTENDED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 starts the automation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Runs in the user session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Supports front-office decisions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Human handles judgement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UNATTENDED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Trigger or schedule starts 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Runs on managed capacity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Processes back-office volume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Orchestrator monitors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LEGACY CONTENT · 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RPA Creates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pa-applications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7166"/>
            <a:ext cx="6126480" cy="42677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178308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783080"/>
            <a:ext cx="73152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5" y="185623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Front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775" y="219456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Customer service and healthcare use attended assistance.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29184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2918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336499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Back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370332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Accounting, finance and supply-chain work suits unattended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80060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4800600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487375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Shared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521208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Structured inputs, stable rules and digital applications.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RPA Value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Shorter cycle time · 24/7 execution · Rapid queue clearance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Repeatable rules · Fewer manual errors · Traceable 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Less repetitive work · More exception handling · More customer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Illustrative Automation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0664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783080"/>
            <a:ext cx="2971800" cy="431596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2084831"/>
            <a:ext cx="2395728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651760"/>
            <a:ext cx="2395728" cy="2560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High-volume, rule-based and digitally accessible work scores highest. Indicative teaching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5440680"/>
            <a:ext cx="2395728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teaching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Automation Opportunity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Discover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Score suitability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 risk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Prototype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 and scale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promising idea is not a production robot until risk, ownership and evidence are clear.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RPA vs API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RPA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Operates the existing user interface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Fast when no API is available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Sensitive to UI changes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Good bridge or tactical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Connects through a defined contract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Usually faster and more stable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Requires an available, governed API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Best for strategic system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LEGACY CONTENT · 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RPA and Intelligent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pa-rpa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60746"/>
            <a:ext cx="6126480" cy="21606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178308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783080"/>
            <a:ext cx="73152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5" y="185623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775" y="219456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Executes deterministic interface and data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29184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2918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336499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AI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370332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Classifies, extracts or predicts where rules alone are insufficient.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80060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4800600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487375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Combined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521208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controlled workflow applies AI output with thresholds and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LEGACY CONTENT · 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Intelligence Continuum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telligence-continuum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0026"/>
            <a:ext cx="6126480" cy="36820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178308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783080"/>
            <a:ext cx="73152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5" y="185623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Rule 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775" y="219456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Stable inputs and explicit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29184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2918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336499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Cognitive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370332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Pattern recognition across less-structured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800600"/>
            <a:ext cx="4343400" cy="1325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4800600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4873752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5212080"/>
            <a:ext cx="3749039" cy="8503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Models may change behaviour and therefore need monitoring.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Single and Multiple Robot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Single robot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queue or task · Simple ownership · Limited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Multiple robots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Parallel capacity · Shared queues · Central coordination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Schedules and assets · Credential isolation · Unified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RPA Governance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 approves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Developer builds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Reviewer validates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Operator deploys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Business monitors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Separation of duties reduces the risk that one person designs, approves and releases uncontrolled automation.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Good and Poor RPA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Rules are explicit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Inputs are digital and structured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Volume is meaningful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Exceptions are understood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WEAK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Frequent interface redesign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Tacit judgement dominates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Unstable or missing data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process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RPA Business Case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Volume · Handle time · Error and rework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Hours released · Cycle-time reduction · Avoided defects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Cost and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and licences · Support effort · Control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· Assess an RPA Opportunity and Build a First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Score a small set of workplace processes, select a strong candidate, then run a starter UiPath sequence that reads the selected process and writes an evidence summary.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Inspect candidates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Score rules and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Select best 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starter sequence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scored opportunity register, a selected automation candidate and a runnable UiPath 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CSV, Excel, Write Line · Detailed procedure: Learner Guide and labs/lab-01-*/README.md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A1, A6 · K1, K2,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workbook ranks a rule-based digital process highest, and Main.xaml runs successfully with a clear selected-process message in the Output panel.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the project opens with missing dependencies, choose Manage Packages &gt; Restore. If the output is blank, inspect the selectedProcess variable scope and default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Completed XLSX plus one screenshot showing the successful UiPath Output message.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· Model Attended and Unattended Service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Classify service requests and design two operating modes: an attended desktop assistant for judgement-heavy cases and an unattended route for complete, low-risk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Check completeness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Choose operating mode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Summarise routing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routing matrix and UiPath workflow that labels each request Attended, Unattended or Human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CSV, Excel, If, Switch, Write Line · Detailed procedure: Learner Guide and labs/lab-02-*/README.md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A1, A6 · K1, K3,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Three test cases reach three intended routes, every route states a reason, and incomplete requests never continue to unattended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all cases take the same branch, check Boolean values and remove surrounding spaces. If Switch misses a case, verify text casing or normalise with Trim.ToLower.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Routing matrix and screenshots of the three distinct UiPath outcomes.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01 ·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RPA operates the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software robot performs rule-based actions through applications much as a user would.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Choose stable, repetitive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Volume, clear rules, structured data and low exception rates make strong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Attended supports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user starts or assists the automation at the desktop.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Unattended runs centrally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Orchestrator schedules and monitors work without a user at the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IPA expands the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OCR, document understanding and AI handle variability beyond simple deterministic rules.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Automation needs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Ownership, credentials, logging, exception paths and human review make robots sustainable.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RPA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46120"/>
            <a:ext cx="16459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9669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Sequences · flowcharts · state machines · variables · arguments · decisions · loops · data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4360"/>
            <a:ext cx="160020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FE6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push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LO2 · A2/A3/A4 · K4/K6/K11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02 · Concept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Best for a short linear path with a clear beginning and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Flowchart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Makes branching logic and alternate paths easy to inspect.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Models event-driven work that moves between named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Variables hold local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Name, type, default value and scope determine what a value can 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Arguments cross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In, Out and In/Out arguments create explicit contracts between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Control flow expresses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If, Switch, For Each, While and Do While turn requirements into executable logic.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Requirement to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Map happy path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Model decisions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exceptions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Set acceptance tests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workflow is executable process design, not a recording of random clicks.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Three Workflow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Linear · Compact · Reusable 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Flowchart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Branching · Visual logic · Multiple paths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Events · States · Long-running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Sequence vs Flowchart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Reads top to bottom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Best for a straight path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Easy to invoke as a component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Can become hard to scan when branches grow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FLOWCHART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Exposes branches visually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Best for decision-heavy work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Supports loops and alternate paths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Needs disciplined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State Machine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Entry actions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 or condition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Transition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Final state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State machines are useful when events determine what happens next, not merely the next line of 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Variable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Meaningful noun · Consistent casing · Avoid generic temp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String and Boolean · Numbers and DateTime · DataTable and collections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Smallest useful scope · Avoid accidental coupling · Dispose sensitive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Variables vs Arguments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Store data inside one workflow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Scope controls local visibility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Good for intermediate state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a cross-workflow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ARGUMENT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Pass data between workflows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Direction is explicit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Supports reusable components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Document type and 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Argument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Caller supplies value · Read inside workflow · Configuration or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Workflow returns value · Written inside workflow · Result or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In/Out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Caller supplies value · Workflow changes it · Use sparingly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 Logic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Evaluate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Follow branch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decision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Normalising once before a decision makes conditions easier to read and test.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If vs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Binary true/false branch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Any Boolean expression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Ideal for thresholds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Nested Ifs become hard to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One value, many cases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categorical routing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branch is essential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Cases must be mutually understood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Choosing a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For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Known collection · One item at a time · Most business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Condition checked first · May run zero times · Guard against infinite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 While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Runs at least once · Condition checked last · Useful for retries/prompts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 Each Row Transaction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row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fields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Process transaction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Append outcome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Keep the row result with the row identifier so every transaction is traceable.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DataTable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Named columns · Correct data types · Required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Filter and iterate · Preserve identifiers · Handle blanks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Write Range · CSV or Excel · Reconcile 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Workflow Pattern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0664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783080"/>
            <a:ext cx="2971800" cy="431596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2084831"/>
            <a:ext cx="2395728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651760"/>
            <a:ext cx="2395728" cy="2560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simplest container that makes the process easy to understand. Indicative teaching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5440680"/>
            <a:ext cx="2395728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teaching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Reusable Workflow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arguments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Execute one responsibility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 outputs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Log result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reusable workflow should have one clear responsibility and a small, documented contract.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· Route Customer Requests with If and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Translate a routing requirement into a readable UiPath flowchart that validates priority and sends each request to the correct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Evaluate category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 queue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Return 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flowchart with validation, If and Switch branches plus a reusable routing output argument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Flowchart, If, Switch, arguments · Detailed procedure: Learner Guide and labs/lab-03-*/README.md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A2, A3, A4 · K4,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six requests match ExpectedQueue, including Unknown -&gt; Manual-Review and the two priority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a category misses its Switch case, normalise the value once before the Switch. If the output argument is empty, ensure the final Assign executes on every path.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Completed route-results workbook and one screenshot of the full flowchart.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· Process a Customer DataTable with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customer records, validate fields, calculate a service segment and append a traceable result for every 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customer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Loop each 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fields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Assign segment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result 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For Each Row transaction workflow with row-level validation and an output DataTable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Read CSV, DataTable, For Each Row, Add Data Row, Write CSV · Detailed procedure: Learner Guide and labs/lab-04-*/README.md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A2, A4 · K4, K6, K11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output contains six traceable rows, every segment matches ExpectedSegment, and the blank-email record is routed to Review without stopping the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numeric conversion fails, use Double.TryParse or Convert.ToDouble only after checking for blanks. If the output file is locked, close it in Excel before rerunning.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output/customer-segments.csv and a screenshot showing the 6-in / 6-out reconciliation.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02 ·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Best for a short linear path with a clear beginning and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Flowchart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Makes branching logic and alternate paths easy to inspect.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Models event-driven work that moves between named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Variables hold local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Name, type, default value and scope determine what a value can 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Arguments cross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In, Out and In/Out arguments create explicit contracts between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Control flow expresses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If, Switch, For Each, While and Do While turn requirements into executable logic.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46120"/>
            <a:ext cx="16459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9669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UI automation · selectors · recording · browser work · table extraction · Excel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4360"/>
            <a:ext cx="160020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FE6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push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LO3 · A4/A5 · K5/K7/K11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03 · Concept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UI elements are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selector describes the application and element a robot should operate.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Reliable selectors use stable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Prefer durable IDs, names and anchors; avoid volatile indexes and session tokens.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Recording accelerates a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Recorded actions are a starting point that must be renamed, parameterised and 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Table extraction creates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Browser rows become a DataTable that can be filtered, validated and written to Excel.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Excel is both source and destination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Range, Write Range and workbook activities connect business data to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 closes the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Counts, required columns, output files and screenshots provide objective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UI Automation Interaction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or attach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element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Wait for 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Perform action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response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Reliable automation waits for observable states instead of assuming the screen is ready.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Selector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Meaningful id or name · Consistent app attributes · Short and specific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Fragile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Dynamic index · Session token · Absolute hierarchy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Anchor nearby label · Wildcards with care · Validate after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Modern vs Classic UI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Application/browser scope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Unified target and anchor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Object repository support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Current design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CLASSIC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Open/Attach activities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Separate selector properties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Common in legacy projects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May require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Recording Is a Drafting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Rename activities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Repair selectors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Parameterise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verification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recording becomes maintainable only after it is cleaned, structured and tested.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Input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 and background-capable · No physical mouse · Not supported everywhere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Window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Works with many desktop apps · May run in background · Application dependent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Hardware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Most human-like · Needs foreground · Sensitive to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Text Extraction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NATIVE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Get Text for native UI text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Fast and accurate when accessible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Depends on application metadata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Preserves text characters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OCR for pixels and scans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Handles images and remote desktops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Needs language and confidence checks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May require human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Structured Table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Indicate first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columns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Configure pagination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Extract DataTable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and save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The extraction succeeds only when the output schema and record count are verified.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Web Automation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Page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Selector no longer matches · Layout changes · A/B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Delayed content · Network latency · Pagination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Authentication · Bot protection · Terms and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Excel Automation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workbook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Transform rows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results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Keep raw input separate from output so the source remains auditable.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Workbook vs Excel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Can work without Excel installed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Good for basic read/write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Fast for simple operations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Limited advanced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Uses the Excel application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Supports richer features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Needs desktop Excel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Requires application lifecycle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Output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Expected row count · Required columns · No missing identifiers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Spot-check values · Types and formats · Business-rule totals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Timestamped file · Log summary · Screenshot or result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Selector Maintenance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target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volatile attributes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variants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Document rationale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Do not simply add wildcards until a selector works; make each retained attribute intentional.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Illustrative Selector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0664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783080"/>
            <a:ext cx="2971800" cy="431596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2084831"/>
            <a:ext cx="2395728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651760"/>
            <a:ext cx="2395728" cy="2560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Stable semantic attributes outperform position-based selectors. Indicative teaching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5440680"/>
            <a:ext cx="2395728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teaching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Responsible Data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Permission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Use authorised sources · Respect terms · Avoid bypassing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Minimisation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Collect only needed fields · Limit retention · Protect personal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source and time · Validate schema · Handle missing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· Validate and Reconcile Invoices in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 an invoice register, validate required values, calculate line totals and write a reconciliation sheet with evidence of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invoice workbook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input sheet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each row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Calculate totals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results and summary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An Excel automation that produces Valid, Review and Rejected outcomes with a reconciliation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Use Excel File, Read Range, For Each Row, Write Range · Detailed procedure: Learner Guide and labs/lab-05-*/README.md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A4, A5 · K5, K11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six invoices receive the expected status, Valid totals calculate correctly, and the Summary counts reconcile to six input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Excel remains open after a fault, close the application and rerun with the Excel scope configured to save and close. If dates import as text, treat blank checks separately from display format.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output/invoice-reconciliation.xlsx with Results and Summary sheets.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· Extract and Filter a Singapore Schools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browser table extraction to capture a list of secondary schools, preserve source evidence, filter Ang Mo Kio records and write a validated Excel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authorised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Indicate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Extract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Filter Ang Mo Kio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and validate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table-extraction workflow, schools output workbook and Ang Mo Kio count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Use Application/Browser, Extract Table Data, DataTable, Excel · Detailed procedure: Learner Guide and labs/lab-06-*/README.md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A1, A4, A5 · K5,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deterministic dataset produces six total rows and three Ang Mo Kio rows; the output records the source URL, timestamp and both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the live table structure changes, use the supplied mock workbook and repair selectors in a separate copy. If the count is zero, trim and normalise PlanningArea before comparing.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output/schools-analysis.xlsx plus screenshots of Extract Table Data and the validated Summary sheet.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03 ·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UI elements are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selector describes the application and element a robot should operate.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Reliable selectors use stable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Prefer durable IDs, names and anchors; avoid volatile indexes and session tokens.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Recording accelerates a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Recorded actions are a starting point that must be renamed, parameterised and 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Table extraction creates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Browser rows become a DataTable that can be filtered, validated and written to Excel.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Excel is both source and destination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Range, Write Range and workbook activities connect business data to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 closes the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Counts, required columns, output files and screenshots provide objective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Debug and Exception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46120"/>
            <a:ext cx="16459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9669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Breakpoints · stepping · panels · logs · Try Catch · retry · evidence ·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4360"/>
            <a:ext cx="160020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FE6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push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LO4 · A5/A7/A8 · K8/K13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04 · Concept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Debugging explains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Breakpoints and stepping reveal values, branches and activity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Logs explain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Structured messages show what ran, with which transaction and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Exceptions need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Business exceptions differ from system failures and lead to different responses.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Try Catch contains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Catch the specific exception, record evidence and choose retry, skip or stop.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Finally restores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Cleanup actions run whether the Try succeeds or fails.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Evidence supports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Screenshots, logs and transaction summaries turn defects into actionable feedback.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Debugging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one cause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controlled debug cycle changes one hypothesis at a time and preserves evidence.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Debug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Into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Enter invoked workflow · Trace detailed behaviour · Use for root cause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Run activity as one unit · Stay in current workflow · Use for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Run to next breakpoint · Check a later state · Avoid blind skipping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Breakpoints vs Slow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BREAKPOINT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Pause at a chosen activity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Inspect a precise state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Conditional breakpoints reduce noise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Repeatable for the same defect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SLOW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Runs the whole workflow slowly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Good for visual observation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Less precise for data defects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Useful early in a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Debug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Current variables · Arguments and scope · Live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Chosen expressions · Compare expected value · Track across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Immediate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Evaluate expression · Test transformation · Do not mutate blindly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Structured Logging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Transaction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Exception detail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Elapsed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useful log entry answers which item, which stage, what result and how long.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Business vs System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Input violates a business rule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Example: missing approval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Usually skip or route for review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Retry rarely helps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Technology cannot complete action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Example: timeout or file lock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Retry may help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May require technical 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Try Catch Finally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Try normal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Catch specific 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Log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recovery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Finally clean up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Catch the narrowest useful exception and preserve enough evidence to diagnose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Retry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Transient failure · Timeout or temporary lock · Idempotent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Bounded attempts · Delay or backoff · Log each attempt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Permanent rule failure · Repeated same error · Risk of duplicate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ContinueOnError Trade-off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POTENTIAL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Keeps the workflow moving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Can be useful for non-critical cleanup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May preserve throughput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Needs explicit result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Can hide the original failure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Downstream data may be invalid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Logs become ambiguous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Avoid as a blanket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input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Capture exception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Take screenshot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Save log path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Route to owner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Evidence should be sufficient to reproduce the issue without exposing confidential 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Validation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 selector · Expected value · Local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Happy and error paths · Arguments · Output 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End-to-end data · Business acceptance · Operational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Illustrative Defect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0664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783080"/>
            <a:ext cx="2971800" cy="431596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2084831"/>
            <a:ext cx="2395728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651760"/>
            <a:ext cx="2395728" cy="2560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Finding defects earlier makes fixes cheaper and safer. Indicative teaching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5440680"/>
            <a:ext cx="2395728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teaching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Defect to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Find root cause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Repair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Regression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Update standard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A defect is not fully closed until the test and operating standard prevent recurrence.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Safe Error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Include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Transaction identifier · Failed stage · Recovery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Exclude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Passwords · Full personal data · Access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Business owner · Support queue · Severity and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· Debug a Failing Order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breakpoints, stepping, Locals and Watch to find three deliberate defects in an order-classification workflow, then run regression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Reproduce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Pause at breakpoint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Inspect variables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Repair one cause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regression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repaired workflow, defect log and regression evidence for six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breakpoints, Step Into/Over, Locals, Watch, logs · Detailed procedure: Learner Guide and labs/lab-07-*/README.md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A5, A7, A8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six cases pass, O5005 is Priority at the boundary, O5006 is Review, and the defect log records symptom, root cause, change and retest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the workflow still uses old values, stop Debug rather than rerunning from a paused state. If a Watch expression errors, check variable scope at the paused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Completed defect log and screenshot of a breakpoint with Locals/Watch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· Build Resilient File Processing with Try Catch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Process a file manifest, classify missing or invalid files, retry transient access failures and produce a clean exception summary without exposing sensitive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manifest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Try file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Classify exception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Retry or route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secure summary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Try Catch workflow with bounded retry, Finally cleanup and a structured exception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Try Catch, Retry Scope, Log Message, file activities · Detailed procedure: Learner Guide and labs/lab-08-*/README.md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A5, A7, A8 · K8, K13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six rows produce one final result, retries never exceed three, business and system exceptions are distinct, and no sensitive value appears in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the workflow continues after a critical system failure, check ContinueOnError and the Catch recovery path. If results duplicate, append only once in Finally.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output/exception-summary.csv and screenshots of Try Catch plus one retry log sequence.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04 ·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Debugging explains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Breakpoints and stepping reveal values, branches and activity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Logs explain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Structured messages show what ran, with which transaction and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Exceptions need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Business exceptions differ from system failures and lead to different responses.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Try Catch contains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Catch the specific exception, record evidence and choose retry, skip or stop.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Finally restores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Cleanup actions run whether the Try succeeds or fails.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Evidence supports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Screenshots, logs and transaction summaries turn defects into actionable feedback.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Manage RPA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46120"/>
            <a:ext cx="16459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9669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Packages · processes · machines · runtimes · jobs · triggers · Assistant · monitoring ·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4360"/>
            <a:ext cx="160020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FE6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push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LO5 · A7/A8/A9 · K9/K12/K13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05 · Concept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Studio creates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Publishing turns a tested project into a versioned automation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Orchestrator creates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process associates a package version with a folder and runtime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Machines provide execution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Machine templates and runtimes connect infrastructure to folders.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Jobs are executions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Start now, schedule with triggers, or launch an attended process through Assistant.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Monitoring reveals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Statuses, logs, queues and alerts expose throughput, exceptions and bottlenecks.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Optimisation is evidence-led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Measure cycle time, success rate and exception causes before changing the robot.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Studio to Orchestrator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 package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process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Allocate runtime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Start and monitor job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Deployment is a versioned chain from source project to package, process and job.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Orchestrator Resource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Tenant and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Isolation boundary · Users and permissions · Resources grouped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Machine and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Execution capacity · Attended/unattended · Folder assignment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Package and process · Jobs and triggers · Logs and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Package vs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Versioned output from Studio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Contains workflows and dependencies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Stored in a feed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Immutable release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Deployable configuration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Selects a package version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Lives in a folder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Used to start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Machine Connection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machine template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Allocate runtime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Assign to folder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Connect robot machine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capacity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Connection settings prove identity; folder and runtime assignments grant usable execution capacity.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Attended vs Unattended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ATTENDED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Signed-in user context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Launched through Assistant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Supports interactive work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 credentials remain central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UNATTENDED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Managed robot account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Started by job or trigger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Processes queues at scale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Credential and machine governance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Jobs and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process execution · Pending/running/faulted · Input and output arguments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Time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Calendar schedule · Business-hour windows · Avoid overlaps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Queue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Starts from workload · Scales with transactions · Requires queue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Release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Rollback if needed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Keep the previous proven package available and document which version each environment runs.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Orchestrator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Named users and robot accounts · Least privilege · Multi-factor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Assets and credential stores · Never in XAML or logs · Rotate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Folder roles · Deployment history · Job and user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Monitoring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outcomes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Classify exceptions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Prioritise fix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Deploy improvement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Operational data should drive optimisation, not intuition alone.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Illustrative Robot Health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0664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783080"/>
            <a:ext cx="2971800" cy="431596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2084831"/>
            <a:ext cx="2395728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651760"/>
            <a:ext cx="2395728" cy="2560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Health combines quality, timeliness and capacity. Indicative teaching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5440680"/>
            <a:ext cx="2395728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teaching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Operational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Success rate · Exception rate · Mean time to recover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Cycle time · Queue age · Throughput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Hours released · Avoided rework · Service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Scale Up vs Scale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SCALE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Faster or larger machine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Simple architecture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Limited parallelism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Single-capacity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12080" cy="43434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2120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SCALE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663440" cy="3063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More runtimes or machines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Parallel job execution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Better resilience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Needs queue and licence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Optimisation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257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257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973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9737" y="2057400"/>
            <a:ext cx="192389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9077" y="2304288"/>
            <a:ext cx="585216" cy="5852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907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946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Find bottleneck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712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624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6242" y="2057400"/>
            <a:ext cx="192389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582" y="2304288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597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design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5363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2747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2747" y="2057400"/>
            <a:ext cx="192389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2087" y="23042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2087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475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A/B or pilot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70139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9252" y="2057400"/>
            <a:ext cx="1923897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9252" y="2057400"/>
            <a:ext cx="192389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8592" y="2304288"/>
            <a:ext cx="585216" cy="58521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8592" y="2304288"/>
            <a:ext cx="585216" cy="58521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980" y="3054096"/>
            <a:ext cx="1704441" cy="6217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Re-baseline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6644" y="2926080"/>
            <a:ext cx="29260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45152"/>
            <a:ext cx="1060704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45152"/>
            <a:ext cx="1010412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INSIGHT  </a:t>
            </a:r>
            <a:r>
              <a:rPr sz="1300">
                <a:solidFill>
                  <a:srgbClr val="161B26"/>
                </a:solidFill>
                <a:latin typeface="Arial"/>
              </a:rPr>
              <a:t>Change one measurable bottleneck and prove the new version is better before scaling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PRACTITIONER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Production Readiness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4074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Named activities · Configuration externalised · Dependencies pinned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755648"/>
            <a:ext cx="73152" cy="44074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Happy and exception paths · Evidence captured · Business acceptance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410712" cy="440740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55648"/>
            <a:ext cx="73152" cy="4407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883664"/>
            <a:ext cx="2999232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Operate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76855"/>
            <a:ext cx="2999232" cy="37673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Owner and support model · Monitoring and alerts · Rollback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· Publish and Run a Process with 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Publish a validated project, create or update an Orchestrator process, start a job or Assistant run, and capture version and execution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Publish package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Start job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 logs and version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published package, deployed process, successful job and release evidence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Automation Cloud Orchestrator, UiPath Assistant · Detailed procedure: Learner Guide and labs/lab-09-*/README.md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A7, A8, A9 · K9, K12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package version is traceable to a deployed process and a successful execution, with no credential or machine-key exposure in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the package is not visible, verify tenant, folder and feed. If a job stays Pending, check machine/runtime allocation and folder assignment rather than repeatedly starting more jobs.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Completed release record plus screenshots of the process version and successful job details.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· Design and Monitor a Multi-Robot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61320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Model a dispatcher-worker pattern, calculate queue metrics and decide when to scale, retry or route work for human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Load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8" y="2889504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Dispatch queue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61304" y="2889504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Workers claim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0" y="288950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Record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670048"/>
            <a:ext cx="1975104" cy="1645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2136" y="2889504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2889504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566160"/>
            <a:ext cx="1792224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Optimise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0561320" cy="96012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0584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161B26"/>
                </a:solidFill>
                <a:latin typeface="Arial"/>
              </a:rPr>
              <a:t>DELIVERABLE  </a:t>
            </a:r>
            <a:r>
              <a:rPr sz="1300">
                <a:solidFill>
                  <a:srgbClr val="161B26"/>
                </a:solidFill>
                <a:latin typeface="Arial"/>
              </a:rPr>
              <a:t>A dispatcher-worker UiPath design, queue simulation workbook and evidence-led optimisation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Tools: UiPath Studio Community, Orchestrator queues, dispatcher/worker pattern, monitoring · Detailed procedure: Learner Guide and labs/lab-10-*/README.md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· A1, A2, A3, A4, A5, A7, A8, A9 · K3, K9, K13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·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47088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5681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transaction has a unique reference and final state, retries are bounded, business exceptions are not retried, and the optimisation recommendation cites measured queue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6440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9242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7413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If workers duplicate items, verify unique references and transaction-state updates. If queue age grows while success rate falls, fix the dominant exception before adding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81728"/>
            <a:ext cx="10561320" cy="1234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681728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09744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791456"/>
            <a:ext cx="7818120" cy="93268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Queue metrics workbook, workflow screenshots and a written scale/retry/review recommendation.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05 ·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Studio creates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Publishing turns a tested project into a versioned automation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Orchestrator creates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process associates a package version with a folder and runtime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7936"/>
            <a:ext cx="73152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Machines provide execution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Machine templates and runtimes connect infrastructure to folders.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73152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3425952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Jobs are executions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3819143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Start now, schedule with triggers, or launch an attended process through Assistant.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0224"/>
            <a:ext cx="73152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Monitoring reveals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Statuses, logs, queues and alerts expose throughput, exceptions and bottlenecks.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840224"/>
            <a:ext cx="5244084" cy="132283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840224"/>
            <a:ext cx="73152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1092" y="4968240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Optimisation is evidence-led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092" y="5361431"/>
            <a:ext cx="4832604" cy="68275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Measure cycle time, success rate and exception causes before changing the robot.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46120"/>
            <a:ext cx="16459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96696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From opportunity selection to a monitored, resilient RPA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4360"/>
            <a:ext cx="1600200" cy="10058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FE6F0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push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Determine appropriate RPA opportunities and best practices for attended and unattended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1020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81020"/>
            <a:ext cx="73152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809036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02227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Plan and construct UiPath workflows using sequences, flowcharts, state machines, variables, arguments and control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06392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06392"/>
            <a:ext cx="73152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734408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127599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Design and validate UI, web, data and Excel automation processes with reliable selectors and structured outputs.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31764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31764"/>
            <a:ext cx="73152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659780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052971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Test, debug, log and handle exceptions in RPA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57136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457136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585152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978343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Package, deploy, monitor and optimise UiPath processes using Assistant and Orchestrator.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Recommended Follow-On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Business Process Automation with Power Automate and Copilot Studio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1020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81020"/>
            <a:ext cx="73152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809036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02227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Agentic AI Automation with n8n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06392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06392"/>
            <a:ext cx="73152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734408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127599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Python Programming for Beginners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31764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31764"/>
            <a:ext cx="73152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659780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052971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Data Analytics with Microsoft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57136"/>
            <a:ext cx="10744200" cy="7059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457136"/>
            <a:ext cx="73152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585152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978343"/>
            <a:ext cx="10332720" cy="658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Robotics and Automation Fundamentals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5661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29718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161B26"/>
                </a:solidFill>
                <a:latin typeface="Arial"/>
              </a:rPr>
              <a:t>Use the deck for concepts, the Learner Guide for procedures, and your completed lab evidence for practical rehearsal. Complete both components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AFTER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755648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55648"/>
            <a:ext cx="73152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092" y="1883664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Telephone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092" y="2276855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+65 6100 0613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73152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www.tertiarycourses.com.sg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4069080"/>
            <a:ext cx="5244084" cy="209397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69080"/>
            <a:ext cx="73152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1092" y="4197096"/>
            <a:ext cx="4832604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Lab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092" y="4590287"/>
            <a:ext cx="4832604" cy="1453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Public learner files and UiPath lab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KEEP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16459"/>
          </a:xfrm>
          <a:prstGeom prst="rect">
            <a:avLst/>
          </a:prstGeom>
          <a:solidFill>
            <a:srgbClr val="DF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5661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29718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161B26"/>
                </a:solidFill>
                <a:latin typeface="Arial"/>
              </a:rPr>
              <a:t>You are ready to identify, build, validate and manage beginner-level RPA solutions with UiPath.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38328"/>
            <a:ext cx="107899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78992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64808"/>
            <a:ext cx="7315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Robotics Process Automation (RPA) for Beginners · TGS-2026064721 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64808"/>
            <a:ext cx="594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66" y="1540764"/>
            <a:ext cx="8629362" cy="429310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13232" y="5916168"/>
            <a:ext cx="10765231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